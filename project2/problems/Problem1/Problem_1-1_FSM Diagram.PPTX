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2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인규[ 학부재학 / 전기전자공학부 ]" initials="성학/전]" lastIdx="1" clrIdx="0">
    <p:extLst>
      <p:ext uri="{19B8F6BF-5375-455C-9EA6-DF929625EA0E}">
        <p15:presenceInfo xmlns:p15="http://schemas.microsoft.com/office/powerpoint/2012/main" userId="S::dlssrb7777@korea.edu::c7eb814d-0c36-423b-8f64-a0cfb8ff80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F917A-5135-4544-BC4C-2CAFE9740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8BB4AE-C09C-47B8-B475-02AF8C090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DEB57-86D1-4FFE-AF6F-71178EA0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D85A8-9538-4D93-ABC0-5E11713E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F1B74-248E-4B2A-AA10-E1E97E0C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66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3F0E9-CE51-4797-8B68-48350C83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2DE533-C2DE-436F-9C4B-B29A2CA22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84251-6F0D-42CA-8A23-38DA34A5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09208-3059-4FB3-BEBA-33E1BC7A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A432B-6844-43CE-85AE-41D3134A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89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91A4B-458C-4F5B-98EA-C81DB59B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22FFC6-38E6-492D-B412-18D7F19EF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BD5AC8-7BED-46E9-ACAA-05E5DED6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84054-C45F-4DE4-B01E-B51F1BD1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3B921F-5C0F-45F1-937A-0D293F05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81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9BB41-8EF8-4A17-8805-F2532EA3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3F622-5904-4AFE-A690-60DAC04E4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E35800-E2BE-4BC9-BB6F-3362474DC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6BB916-6D2C-40CD-BFEC-24103589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5D3EF4-BE68-4A4F-8FE6-86E6AF2F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4F2D61-D098-486F-8E72-4280DD0C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08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6C2BC-A848-4BD2-891E-3C12BF7F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CF2C2-1BAA-44FC-9A94-E1BA2C0C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4F9558-3063-4DFE-A91C-C26AABAB3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F2FE80-EA0C-4ADB-ABDD-2ACA16F3A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03F078-12C7-44FE-8BE8-BCB2E28EC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269492-28CA-4BEF-94F1-F33E2E4C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BCB238-2487-4122-A15A-BB84B568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581487-E7FC-4F36-B9ED-994B501F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1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1E850-9C73-41F7-9EF8-67B0FF24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62D233-A92B-4F88-8371-BD8845BB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D0544A-0EFE-4E86-9A6B-581C43CE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4583F5-6389-4383-B46A-6FB74256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15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E7D1BB-209D-4ED3-879B-56502F08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44A83F-F7BE-4CFE-AD84-BD3E1044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CE3FFB-FEDE-413D-9E31-CCCBA4A6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22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227AA-8654-4FB8-ADCE-7DD933EF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2F6FA9-9847-4468-A460-178508B67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C3E6F5-FBF7-4F5D-9A5E-6314010BF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0A6E70-CE7D-4E89-8181-425D1285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CA29BA-259C-4BF0-9E17-43D60C40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A760BE-E879-4C3E-8B02-3DAA880E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64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99909-B6C7-4608-9A24-F07CD85F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8F022-FEB9-4CD4-9752-172AB46BE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EE9EF8-9D41-4209-B7CB-61ABE6138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A91A7B-3BA1-465A-A901-9782A055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4039D-F0F7-420D-B04D-BBE1971F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45F1F8-5A7A-4627-B9F0-B8BE8FBA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91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4EAEC-B693-4C7C-B02E-A9908B75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36DF6A-C9B7-4631-A948-3C202E4C4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0894E-B8EA-4FD2-A333-AF9EEC5F4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548F8E-CA1C-4D57-AF45-9934E357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2FD6E-8BB5-4CA0-A887-EED861AE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33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F7A32D-5940-4B7D-B298-F5E516AE8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FC8DCC-2E05-452A-BA2D-1808CD0C2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8D858-024A-4D67-995F-6DB98EDD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04CD1-2C29-4EA9-B587-6C917DC4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F177B-D5D7-4FD9-9C21-43FCF203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6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60E376-81AE-4373-A851-8CEC74B7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EB7F72-5795-4DA4-82CC-C1D6540E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1D968-E3EC-4A92-BBC9-D0E843E32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8CFA3-D9BD-41B9-AB53-A2D67B5B022E}" type="datetimeFigureOut">
              <a:rPr lang="ko-KR" altLang="en-US" smtClean="0"/>
              <a:t>2021-04-21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AC2A2-E14C-4C9F-927B-6C0EBD6B4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DB375-41D0-4993-9A0B-6964425CB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71BFD-A393-40A9-B7BB-4488036C5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68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AF944-CF54-49F9-9E7E-CEC08E11E0C6}"/>
              </a:ext>
            </a:extLst>
          </p:cNvPr>
          <p:cNvSpPr txBox="1"/>
          <p:nvPr/>
        </p:nvSpPr>
        <p:spPr>
          <a:xfrm>
            <a:off x="443060" y="58846"/>
            <a:ext cx="11001080" cy="654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/>
              <a:t>각 슬라이드는 다음과 같은 내용을 포함하고 있습니다</a:t>
            </a:r>
            <a:r>
              <a:rPr lang="en-US" altLang="ko-KR" sz="2100" dirty="0"/>
              <a:t>.</a:t>
            </a:r>
          </a:p>
          <a:p>
            <a:endParaRPr lang="en-US" altLang="ko-KR" sz="2100" dirty="0"/>
          </a:p>
          <a:p>
            <a:r>
              <a:rPr lang="en-US" altLang="ko-KR" sz="2100" b="1" dirty="0"/>
              <a:t>1. </a:t>
            </a:r>
            <a:r>
              <a:rPr lang="ko-KR" altLang="en-US" sz="2100" b="1" dirty="0"/>
              <a:t>슬라이드 </a:t>
            </a:r>
            <a:r>
              <a:rPr lang="en-US" altLang="ko-KR" sz="2100" b="1" dirty="0"/>
              <a:t>2: FSM Diagram (Color version)</a:t>
            </a:r>
          </a:p>
          <a:p>
            <a:pPr marL="742950" lvl="1" indent="-285750">
              <a:buFontTx/>
              <a:buChar char="-"/>
            </a:pPr>
            <a:r>
              <a:rPr lang="ko-KR" altLang="en-US" sz="2100" dirty="0"/>
              <a:t>각 색깔은 </a:t>
            </a:r>
            <a:r>
              <a:rPr lang="ko-KR" altLang="en-US" sz="2100" b="1" dirty="0"/>
              <a:t>각각의 </a:t>
            </a:r>
            <a:r>
              <a:rPr lang="en-US" altLang="ko-KR" sz="2100" b="1" dirty="0"/>
              <a:t>state</a:t>
            </a:r>
            <a:r>
              <a:rPr lang="ko-KR" altLang="en-US" sz="2100" b="1" dirty="0"/>
              <a:t>를 </a:t>
            </a:r>
            <a:r>
              <a:rPr lang="en-US" altLang="ko-KR" sz="2100" b="1" dirty="0"/>
              <a:t>represent</a:t>
            </a:r>
            <a:r>
              <a:rPr lang="ko-KR" altLang="en-US" sz="2100" dirty="0"/>
              <a:t>하고 있습니다</a:t>
            </a:r>
            <a:r>
              <a:rPr lang="en-US" altLang="ko-KR" sz="2100" dirty="0"/>
              <a:t>. </a:t>
            </a:r>
            <a:r>
              <a:rPr lang="ko-KR" altLang="en-US" sz="2100" dirty="0"/>
              <a:t>화살표의 색은 </a:t>
            </a:r>
            <a:r>
              <a:rPr lang="en-US" altLang="ko-KR" sz="2100" dirty="0"/>
              <a:t>state transition</a:t>
            </a:r>
            <a:r>
              <a:rPr lang="ko-KR" altLang="en-US" sz="2100" dirty="0"/>
              <a:t>이 일어날 때</a:t>
            </a:r>
            <a:r>
              <a:rPr lang="en-US" altLang="ko-KR" sz="2100" dirty="0"/>
              <a:t>, </a:t>
            </a:r>
            <a:r>
              <a:rPr lang="en-US" altLang="ko-KR" sz="2100" b="1" dirty="0"/>
              <a:t>current state</a:t>
            </a:r>
            <a:r>
              <a:rPr lang="ko-KR" altLang="en-US" sz="2100" b="1" dirty="0"/>
              <a:t>의 </a:t>
            </a:r>
            <a:r>
              <a:rPr lang="en-US" altLang="ko-KR" sz="2100" b="1" dirty="0"/>
              <a:t>state color</a:t>
            </a:r>
            <a:r>
              <a:rPr lang="ko-KR" altLang="en-US" sz="2100" b="1" dirty="0"/>
              <a:t>를 기준</a:t>
            </a:r>
            <a:r>
              <a:rPr lang="ko-KR" altLang="en-US" sz="2100" dirty="0"/>
              <a:t>으로 채색하였습니다</a:t>
            </a:r>
            <a:r>
              <a:rPr lang="en-US" altLang="ko-KR" sz="21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2100" dirty="0"/>
              <a:t>즉</a:t>
            </a:r>
            <a:r>
              <a:rPr lang="en-US" altLang="ko-KR" sz="2100" dirty="0"/>
              <a:t>, </a:t>
            </a:r>
            <a:r>
              <a:rPr lang="ko-KR" altLang="en-US" sz="2100" b="1" dirty="0"/>
              <a:t>같은 색의 화살표들</a:t>
            </a:r>
            <a:r>
              <a:rPr lang="ko-KR" altLang="en-US" sz="2100" dirty="0"/>
              <a:t>은 서로 </a:t>
            </a:r>
            <a:r>
              <a:rPr lang="en-US" altLang="ko-KR" sz="2100" b="1" dirty="0"/>
              <a:t>current state</a:t>
            </a:r>
            <a:r>
              <a:rPr lang="ko-KR" altLang="en-US" sz="2100" b="1" dirty="0"/>
              <a:t>가 동일</a:t>
            </a:r>
            <a:r>
              <a:rPr lang="ko-KR" altLang="en-US" sz="2100" dirty="0"/>
              <a:t>한 </a:t>
            </a:r>
            <a:r>
              <a:rPr lang="en-US" altLang="ko-KR" sz="2100" dirty="0"/>
              <a:t>state transition</a:t>
            </a:r>
            <a:r>
              <a:rPr lang="ko-KR" altLang="en-US" sz="2100" dirty="0"/>
              <a:t>을 </a:t>
            </a:r>
            <a:r>
              <a:rPr lang="en-US" altLang="ko-KR" sz="2100" dirty="0"/>
              <a:t>represent</a:t>
            </a:r>
            <a:r>
              <a:rPr lang="ko-KR" altLang="en-US" sz="2100" dirty="0"/>
              <a:t>하고 있습니다</a:t>
            </a:r>
            <a:r>
              <a:rPr lang="en-US" altLang="ko-KR" sz="21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2100" dirty="0"/>
              <a:t>예를 들어</a:t>
            </a:r>
            <a:r>
              <a:rPr lang="en-US" altLang="ko-KR" sz="2100" dirty="0"/>
              <a:t>,</a:t>
            </a:r>
            <a:r>
              <a:rPr lang="ko-KR" altLang="en-US" sz="2100" dirty="0"/>
              <a:t> </a:t>
            </a:r>
            <a:r>
              <a:rPr lang="en-US" altLang="ko-KR" sz="2100" dirty="0"/>
              <a:t>LOOKUP</a:t>
            </a:r>
            <a:r>
              <a:rPr lang="ko-KR" altLang="en-US" sz="2100" dirty="0"/>
              <a:t>에서 </a:t>
            </a:r>
            <a:r>
              <a:rPr lang="en-US" altLang="ko-KR" sz="2100" dirty="0"/>
              <a:t>FLUSH_ADDR</a:t>
            </a:r>
            <a:r>
              <a:rPr lang="ko-KR" altLang="en-US" sz="2100" dirty="0"/>
              <a:t>로 </a:t>
            </a:r>
            <a:r>
              <a:rPr lang="en-US" altLang="ko-KR" sz="2100" dirty="0"/>
              <a:t>state transition</a:t>
            </a:r>
            <a:r>
              <a:rPr lang="ko-KR" altLang="en-US" sz="2100" dirty="0"/>
              <a:t>이 일어날 때</a:t>
            </a:r>
            <a:r>
              <a:rPr lang="en-US" altLang="ko-KR" sz="2100" dirty="0"/>
              <a:t>, current state</a:t>
            </a:r>
            <a:r>
              <a:rPr lang="ko-KR" altLang="en-US" sz="2100" dirty="0"/>
              <a:t>가 </a:t>
            </a:r>
            <a:r>
              <a:rPr lang="en-US" altLang="ko-KR" sz="2100" dirty="0"/>
              <a:t>LOOKUP</a:t>
            </a:r>
            <a:r>
              <a:rPr lang="ko-KR" altLang="en-US" sz="2100" dirty="0"/>
              <a:t>이므로</a:t>
            </a:r>
            <a:r>
              <a:rPr lang="en-US" altLang="ko-KR" sz="2100" dirty="0"/>
              <a:t>, LOOKUP</a:t>
            </a:r>
            <a:r>
              <a:rPr lang="ko-KR" altLang="en-US" sz="2100" dirty="0"/>
              <a:t>의 색인 초록색 화살표로 표시하였습니다</a:t>
            </a:r>
            <a:r>
              <a:rPr lang="en-US" altLang="ko-KR" sz="2100" dirty="0"/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2100" dirty="0"/>
          </a:p>
          <a:p>
            <a:r>
              <a:rPr lang="en-US" altLang="ko-KR" sz="2100" b="1" dirty="0"/>
              <a:t>2. </a:t>
            </a:r>
            <a:r>
              <a:rPr lang="ko-KR" altLang="en-US" sz="2100" b="1" dirty="0"/>
              <a:t>슬라이드 </a:t>
            </a:r>
            <a:r>
              <a:rPr lang="en-US" altLang="ko-KR" sz="2100" b="1" dirty="0"/>
              <a:t>3: FSM Diagram (</a:t>
            </a:r>
            <a:r>
              <a:rPr lang="ko-KR" altLang="en-US" sz="2100" b="1" dirty="0"/>
              <a:t>단일 컬러 </a:t>
            </a:r>
            <a:r>
              <a:rPr lang="en-US" altLang="ko-KR" sz="2100" b="1" dirty="0"/>
              <a:t>version)</a:t>
            </a:r>
          </a:p>
          <a:p>
            <a:pPr marL="742950" lvl="1" indent="-285750">
              <a:buFontTx/>
              <a:buChar char="-"/>
            </a:pPr>
            <a:r>
              <a:rPr lang="ko-KR" altLang="en-US" sz="2100" dirty="0"/>
              <a:t>슬라이드 </a:t>
            </a:r>
            <a:r>
              <a:rPr lang="en-US" altLang="ko-KR" sz="2100" dirty="0"/>
              <a:t>2</a:t>
            </a:r>
            <a:r>
              <a:rPr lang="ko-KR" altLang="en-US" sz="2100" dirty="0"/>
              <a:t>의 </a:t>
            </a:r>
            <a:r>
              <a:rPr lang="en-US" altLang="ko-KR" sz="2100" dirty="0"/>
              <a:t>FSM Diagram</a:t>
            </a:r>
            <a:r>
              <a:rPr lang="ko-KR" altLang="en-US" sz="2100" dirty="0"/>
              <a:t>과 </a:t>
            </a:r>
            <a:r>
              <a:rPr lang="ko-KR" altLang="en-US" sz="2100" b="1" dirty="0"/>
              <a:t>동일</a:t>
            </a:r>
            <a:r>
              <a:rPr lang="ko-KR" altLang="en-US" sz="2100" dirty="0"/>
              <a:t>한 </a:t>
            </a:r>
            <a:r>
              <a:rPr lang="en-US" altLang="ko-KR" sz="2100" dirty="0"/>
              <a:t>FSM Diagram</a:t>
            </a:r>
            <a:r>
              <a:rPr lang="ko-KR" altLang="en-US" sz="2100" dirty="0"/>
              <a:t>입니다</a:t>
            </a:r>
            <a:r>
              <a:rPr lang="en-US" altLang="ko-KR" sz="21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2100" b="1" dirty="0"/>
              <a:t>가독성을 위해 </a:t>
            </a:r>
            <a:r>
              <a:rPr lang="ko-KR" altLang="en-US" sz="2100" dirty="0"/>
              <a:t>단일 컬러를 사용하여</a:t>
            </a:r>
            <a:r>
              <a:rPr lang="en-US" altLang="ko-KR" sz="2100" dirty="0"/>
              <a:t> </a:t>
            </a:r>
            <a:r>
              <a:rPr lang="ko-KR" altLang="en-US" sz="2100" dirty="0"/>
              <a:t>만든 </a:t>
            </a:r>
            <a:r>
              <a:rPr lang="en-US" altLang="ko-KR" sz="2100" dirty="0"/>
              <a:t>FSM Diagram</a:t>
            </a:r>
            <a:r>
              <a:rPr lang="ko-KR" altLang="en-US" sz="2100" dirty="0"/>
              <a:t>도 첨부하였습니다</a:t>
            </a:r>
            <a:r>
              <a:rPr lang="en-US" altLang="ko-KR" sz="2100" dirty="0"/>
              <a:t>.</a:t>
            </a:r>
          </a:p>
          <a:p>
            <a:pPr lvl="1"/>
            <a:endParaRPr lang="en-US" altLang="ko-KR" sz="2100" dirty="0"/>
          </a:p>
          <a:p>
            <a:r>
              <a:rPr lang="en-US" altLang="ko-KR" sz="2100" b="1" dirty="0"/>
              <a:t>3. </a:t>
            </a:r>
            <a:r>
              <a:rPr lang="ko-KR" altLang="en-US" sz="2100" b="1" dirty="0"/>
              <a:t>슬라이드 </a:t>
            </a:r>
            <a:r>
              <a:rPr lang="en-US" altLang="ko-KR" sz="2100" b="1" dirty="0"/>
              <a:t>4: FSM State</a:t>
            </a:r>
            <a:r>
              <a:rPr lang="ko-KR" altLang="en-US" sz="2100" b="1" dirty="0"/>
              <a:t> </a:t>
            </a:r>
            <a:r>
              <a:rPr lang="en-US" altLang="ko-KR" sz="2100" b="1" dirty="0"/>
              <a:t>Transition Table</a:t>
            </a:r>
          </a:p>
          <a:p>
            <a:pPr marL="742950" lvl="1" indent="-285750">
              <a:buFontTx/>
              <a:buChar char="-"/>
            </a:pPr>
            <a:r>
              <a:rPr lang="en-US" altLang="ko-KR" sz="2100" dirty="0"/>
              <a:t>FSM</a:t>
            </a:r>
            <a:r>
              <a:rPr lang="ko-KR" altLang="en-US" sz="2100" dirty="0"/>
              <a:t> </a:t>
            </a:r>
            <a:r>
              <a:rPr lang="en-US" altLang="ko-KR" sz="2100" dirty="0"/>
              <a:t>Diagram</a:t>
            </a:r>
            <a:r>
              <a:rPr lang="ko-KR" altLang="en-US" sz="2100" dirty="0"/>
              <a:t>에서 각각의 화살표와 </a:t>
            </a:r>
            <a:r>
              <a:rPr lang="en-US" altLang="ko-KR" sz="2100" dirty="0"/>
              <a:t>1:1 </a:t>
            </a:r>
            <a:r>
              <a:rPr lang="ko-KR" altLang="en-US" sz="2100" dirty="0"/>
              <a:t>매칭되는 </a:t>
            </a:r>
            <a:r>
              <a:rPr lang="en-US" altLang="ko-KR" sz="2100" dirty="0"/>
              <a:t>state transition</a:t>
            </a:r>
            <a:r>
              <a:rPr lang="ko-KR" altLang="en-US" sz="2100" dirty="0"/>
              <a:t>을 </a:t>
            </a:r>
            <a:r>
              <a:rPr lang="en-US" altLang="ko-KR" sz="2100" dirty="0"/>
              <a:t>table</a:t>
            </a:r>
            <a:r>
              <a:rPr lang="ko-KR" altLang="en-US" sz="2100" dirty="0"/>
              <a:t>로 정리하였습니다</a:t>
            </a:r>
            <a:r>
              <a:rPr lang="en-US" altLang="ko-KR" sz="21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en-US" altLang="ko-KR" sz="2100" dirty="0"/>
              <a:t>Diagram</a:t>
            </a:r>
            <a:r>
              <a:rPr lang="ko-KR" altLang="en-US" sz="2100" dirty="0"/>
              <a:t>과 비교 시</a:t>
            </a:r>
            <a:r>
              <a:rPr lang="en-US" altLang="ko-KR" sz="2100" dirty="0"/>
              <a:t>,</a:t>
            </a:r>
            <a:r>
              <a:rPr lang="ko-KR" altLang="en-US" sz="2100" dirty="0"/>
              <a:t> 편의를 위해 </a:t>
            </a:r>
            <a:r>
              <a:rPr lang="en-US" altLang="ko-KR" sz="2100" dirty="0"/>
              <a:t>State Transition Table</a:t>
            </a:r>
            <a:r>
              <a:rPr lang="ko-KR" altLang="en-US" sz="2100" dirty="0"/>
              <a:t>을 따로 </a:t>
            </a:r>
            <a:r>
              <a:rPr lang="en-US" altLang="ko-KR" sz="2100" dirty="0"/>
              <a:t>pdf </a:t>
            </a:r>
            <a:r>
              <a:rPr lang="ko-KR" altLang="en-US" sz="2100" dirty="0"/>
              <a:t>파일로 </a:t>
            </a:r>
            <a:r>
              <a:rPr lang="en-US" altLang="ko-KR" sz="2100" dirty="0"/>
              <a:t>export</a:t>
            </a:r>
            <a:r>
              <a:rPr lang="ko-KR" altLang="en-US" sz="2100" dirty="0"/>
              <a:t>하여 </a:t>
            </a:r>
            <a:r>
              <a:rPr lang="en-US" altLang="ko-KR" sz="2100" dirty="0"/>
              <a:t>reference</a:t>
            </a:r>
            <a:r>
              <a:rPr lang="ko-KR" altLang="en-US" sz="2100" dirty="0"/>
              <a:t> 폴더에 첨부하였습니다</a:t>
            </a:r>
            <a:r>
              <a:rPr lang="en-US" altLang="ko-KR" sz="2100" dirty="0"/>
              <a:t>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264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9DCAF95-FE23-437E-9237-1E4764F51E9C}"/>
              </a:ext>
            </a:extLst>
          </p:cNvPr>
          <p:cNvSpPr/>
          <p:nvPr/>
        </p:nvSpPr>
        <p:spPr>
          <a:xfrm>
            <a:off x="684523" y="716333"/>
            <a:ext cx="13763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CD2FEDC-F855-4665-BF97-645AB1601ACC}"/>
              </a:ext>
            </a:extLst>
          </p:cNvPr>
          <p:cNvSpPr/>
          <p:nvPr/>
        </p:nvSpPr>
        <p:spPr>
          <a:xfrm>
            <a:off x="5723626" y="3123361"/>
            <a:ext cx="1376314" cy="63159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LOOKUP</a:t>
            </a:r>
            <a:endParaRPr lang="ko-KR" altLang="en-US" dirty="0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7F71F1B8-B225-40A2-99C0-4C49FD0BADB6}"/>
              </a:ext>
            </a:extLst>
          </p:cNvPr>
          <p:cNvCxnSpPr>
            <a:stCxn id="4" idx="2"/>
            <a:endCxn id="4" idx="1"/>
          </p:cNvCxnSpPr>
          <p:nvPr/>
        </p:nvCxnSpPr>
        <p:spPr>
          <a:xfrm rot="5400000" flipH="1">
            <a:off x="870703" y="845952"/>
            <a:ext cx="315798" cy="688157"/>
          </a:xfrm>
          <a:prstGeom prst="curvedConnector4">
            <a:avLst>
              <a:gd name="adj1" fmla="val -72388"/>
              <a:gd name="adj2" fmla="val 13321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D3A838B-D968-40D7-A0FD-CB829B3E330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60837" y="1032131"/>
            <a:ext cx="3678221" cy="2214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BB911F4-ACF6-4D54-8249-1939E0AD3C74}"/>
              </a:ext>
            </a:extLst>
          </p:cNvPr>
          <p:cNvSpPr/>
          <p:nvPr/>
        </p:nvSpPr>
        <p:spPr>
          <a:xfrm>
            <a:off x="306436" y="3281260"/>
            <a:ext cx="2290714" cy="6315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FLUSH_ADDR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269DA50-98AF-4D50-828E-A722D680DD04}"/>
              </a:ext>
            </a:extLst>
          </p:cNvPr>
          <p:cNvSpPr/>
          <p:nvPr/>
        </p:nvSpPr>
        <p:spPr>
          <a:xfrm>
            <a:off x="3001127" y="3281260"/>
            <a:ext cx="1376314" cy="63159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</a:t>
            </a:r>
            <a:endParaRPr lang="ko-KR" altLang="en-US" dirty="0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79309FEC-9A73-4EEC-B42E-5069078AA8E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70539" y="2162515"/>
            <a:ext cx="12700" cy="2237491"/>
          </a:xfrm>
          <a:prstGeom prst="curvedConnector3">
            <a:avLst>
              <a:gd name="adj1" fmla="val 180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76747A25-5C6B-4ED5-812E-2C9DACC8C199}"/>
              </a:ext>
            </a:extLst>
          </p:cNvPr>
          <p:cNvCxnSpPr>
            <a:cxnSpLocks/>
          </p:cNvCxnSpPr>
          <p:nvPr/>
        </p:nvCxnSpPr>
        <p:spPr>
          <a:xfrm rot="5400000">
            <a:off x="2570539" y="2794111"/>
            <a:ext cx="12700" cy="223749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160B9FB-0D97-47CF-8D64-1AFF957679DF}"/>
              </a:ext>
            </a:extLst>
          </p:cNvPr>
          <p:cNvCxnSpPr>
            <a:cxnSpLocks/>
          </p:cNvCxnSpPr>
          <p:nvPr/>
        </p:nvCxnSpPr>
        <p:spPr>
          <a:xfrm>
            <a:off x="4377441" y="3597057"/>
            <a:ext cx="1346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312AC8A-2FA3-4C73-8EDE-3A9B4C435B26}"/>
              </a:ext>
            </a:extLst>
          </p:cNvPr>
          <p:cNvSpPr/>
          <p:nvPr/>
        </p:nvSpPr>
        <p:spPr>
          <a:xfrm>
            <a:off x="10131163" y="716333"/>
            <a:ext cx="1376314" cy="631596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EVICT</a:t>
            </a:r>
            <a:endParaRPr lang="ko-KR" altLang="en-US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A53A7E0-EA41-4C75-8811-E043F2BFA525}"/>
              </a:ext>
            </a:extLst>
          </p:cNvPr>
          <p:cNvSpPr/>
          <p:nvPr/>
        </p:nvSpPr>
        <p:spPr>
          <a:xfrm>
            <a:off x="9995458" y="1773102"/>
            <a:ext cx="1647724" cy="63159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EVICT_WAIT</a:t>
            </a:r>
            <a:endParaRPr lang="ko-KR" altLang="en-US" dirty="0"/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973D8291-7AD7-42CE-A177-C7C182B446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05500" y="530155"/>
            <a:ext cx="315798" cy="688157"/>
          </a:xfrm>
          <a:prstGeom prst="curvedConnector4">
            <a:avLst>
              <a:gd name="adj1" fmla="val -72388"/>
              <a:gd name="adj2" fmla="val 133219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52FC9DBB-E080-4A64-AAED-02522DE4ADDB}"/>
              </a:ext>
            </a:extLst>
          </p:cNvPr>
          <p:cNvCxnSpPr>
            <a:stCxn id="52" idx="0"/>
            <a:endCxn id="52" idx="3"/>
          </p:cNvCxnSpPr>
          <p:nvPr/>
        </p:nvCxnSpPr>
        <p:spPr>
          <a:xfrm rot="16200000" flipH="1">
            <a:off x="11073352" y="1519070"/>
            <a:ext cx="315798" cy="823862"/>
          </a:xfrm>
          <a:prstGeom prst="curvedConnector4">
            <a:avLst>
              <a:gd name="adj1" fmla="val -72388"/>
              <a:gd name="adj2" fmla="val 12774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9DB42EB-DAD3-4AA1-9E6F-A7927E1CF2B7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10819320" y="1347929"/>
            <a:ext cx="0" cy="42517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F3B586C-5110-4280-873B-4D8959803222}"/>
              </a:ext>
            </a:extLst>
          </p:cNvPr>
          <p:cNvCxnSpPr>
            <a:cxnSpLocks/>
          </p:cNvCxnSpPr>
          <p:nvPr/>
        </p:nvCxnSpPr>
        <p:spPr>
          <a:xfrm flipV="1">
            <a:off x="7099939" y="1210922"/>
            <a:ext cx="3027632" cy="2228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53FF1D2-084D-46DB-9DDA-60AD3667BC03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377441" y="846174"/>
            <a:ext cx="5753721" cy="2750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C9E8DD7-DB5D-47D1-B039-6A0A8832C897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7069076" y="2088900"/>
            <a:ext cx="2926382" cy="1192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0F5A1A5A-D86D-4C29-B2BA-51C16D8E4D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51793" y="2088899"/>
            <a:ext cx="8543665" cy="119236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A7EEA54-EBF0-464A-8B50-B9F929714268}"/>
              </a:ext>
            </a:extLst>
          </p:cNvPr>
          <p:cNvSpPr/>
          <p:nvPr/>
        </p:nvSpPr>
        <p:spPr>
          <a:xfrm>
            <a:off x="10212077" y="4699111"/>
            <a:ext cx="1376314" cy="6315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REFILL</a:t>
            </a:r>
            <a:endParaRPr lang="ko-KR" altLang="en-US" dirty="0"/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E0C64E8D-A1BB-4713-922A-CFE6829A11E0}"/>
              </a:ext>
            </a:extLst>
          </p:cNvPr>
          <p:cNvCxnSpPr>
            <a:stCxn id="69" idx="3"/>
            <a:endCxn id="69" idx="2"/>
          </p:cNvCxnSpPr>
          <p:nvPr/>
        </p:nvCxnSpPr>
        <p:spPr>
          <a:xfrm flipH="1">
            <a:off x="10900234" y="5014909"/>
            <a:ext cx="688157" cy="315798"/>
          </a:xfrm>
          <a:prstGeom prst="curvedConnector4">
            <a:avLst>
              <a:gd name="adj1" fmla="val -33219"/>
              <a:gd name="adj2" fmla="val 172388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0633F5C3-7AEA-41DB-A550-A1CAB8FDC4FE}"/>
              </a:ext>
            </a:extLst>
          </p:cNvPr>
          <p:cNvSpPr/>
          <p:nvPr/>
        </p:nvSpPr>
        <p:spPr>
          <a:xfrm>
            <a:off x="6562920" y="5783339"/>
            <a:ext cx="1376314" cy="63159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3063A73-3C61-4045-9688-4F07A657D78B}"/>
              </a:ext>
            </a:extLst>
          </p:cNvPr>
          <p:cNvSpPr/>
          <p:nvPr/>
        </p:nvSpPr>
        <p:spPr>
          <a:xfrm>
            <a:off x="4940924" y="5783339"/>
            <a:ext cx="1376314" cy="631596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WRITE</a:t>
            </a:r>
            <a:endParaRPr lang="ko-KR" altLang="en-US" dirty="0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A7978160-BD3C-486C-9BBD-D33A05C026EF}"/>
              </a:ext>
            </a:extLst>
          </p:cNvPr>
          <p:cNvCxnSpPr>
            <a:stCxn id="69" idx="2"/>
            <a:endCxn id="106" idx="0"/>
          </p:cNvCxnSpPr>
          <p:nvPr/>
        </p:nvCxnSpPr>
        <p:spPr>
          <a:xfrm flipH="1">
            <a:off x="7251077" y="5330707"/>
            <a:ext cx="3649157" cy="452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D11A0AA0-96E8-4F9C-8698-DD1E2CDB1184}"/>
              </a:ext>
            </a:extLst>
          </p:cNvPr>
          <p:cNvCxnSpPr>
            <a:stCxn id="69" idx="2"/>
            <a:endCxn id="107" idx="0"/>
          </p:cNvCxnSpPr>
          <p:nvPr/>
        </p:nvCxnSpPr>
        <p:spPr>
          <a:xfrm flipH="1">
            <a:off x="5629081" y="5330707"/>
            <a:ext cx="5271153" cy="452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B4E10EBE-2A6D-495A-8E5C-D90E56014D90}"/>
              </a:ext>
            </a:extLst>
          </p:cNvPr>
          <p:cNvCxnSpPr>
            <a:cxnSpLocks/>
            <a:stCxn id="107" idx="0"/>
          </p:cNvCxnSpPr>
          <p:nvPr/>
        </p:nvCxnSpPr>
        <p:spPr>
          <a:xfrm flipV="1">
            <a:off x="5629081" y="3783015"/>
            <a:ext cx="465699" cy="200032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DB1A01A5-59BE-4E4F-8A19-7B196558E270}"/>
              </a:ext>
            </a:extLst>
          </p:cNvPr>
          <p:cNvCxnSpPr>
            <a:cxnSpLocks/>
            <a:stCxn id="106" idx="0"/>
          </p:cNvCxnSpPr>
          <p:nvPr/>
        </p:nvCxnSpPr>
        <p:spPr>
          <a:xfrm flipH="1" flipV="1">
            <a:off x="6815761" y="3754955"/>
            <a:ext cx="435316" cy="202838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E74C2088-D4AE-4FD2-866A-01770BBAE154}"/>
              </a:ext>
            </a:extLst>
          </p:cNvPr>
          <p:cNvCxnSpPr>
            <a:stCxn id="52" idx="2"/>
            <a:endCxn id="69" idx="0"/>
          </p:cNvCxnSpPr>
          <p:nvPr/>
        </p:nvCxnSpPr>
        <p:spPr>
          <a:xfrm>
            <a:off x="10819320" y="2404698"/>
            <a:ext cx="80914" cy="2294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5C5FBBC-D437-4CB4-907A-9092F62FE9B1}"/>
              </a:ext>
            </a:extLst>
          </p:cNvPr>
          <p:cNvCxnSpPr>
            <a:stCxn id="5" idx="2"/>
            <a:endCxn id="69" idx="0"/>
          </p:cNvCxnSpPr>
          <p:nvPr/>
        </p:nvCxnSpPr>
        <p:spPr>
          <a:xfrm>
            <a:off x="6411783" y="3754957"/>
            <a:ext cx="4488451" cy="944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C8879B2D-8161-4F77-B4C1-8252F9473A09}"/>
              </a:ext>
            </a:extLst>
          </p:cNvPr>
          <p:cNvSpPr/>
          <p:nvPr/>
        </p:nvSpPr>
        <p:spPr>
          <a:xfrm>
            <a:off x="5508777" y="688275"/>
            <a:ext cx="1665176" cy="63159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INVALIDATE</a:t>
            </a:r>
            <a:endParaRPr lang="ko-KR" altLang="en-US" dirty="0"/>
          </a:p>
        </p:txBody>
      </p:sp>
      <p:cxnSp>
        <p:nvCxnSpPr>
          <p:cNvPr id="203" name="연결선: 구부러짐 202">
            <a:extLst>
              <a:ext uri="{FF2B5EF4-FFF2-40B4-BE49-F238E27FC236}">
                <a16:creationId xmlns:a16="http://schemas.microsoft.com/office/drawing/2014/main" id="{409CEF91-39FF-4401-969C-19651ED060B0}"/>
              </a:ext>
            </a:extLst>
          </p:cNvPr>
          <p:cNvCxnSpPr>
            <a:cxnSpLocks/>
            <a:stCxn id="201" idx="1"/>
            <a:endCxn id="5" idx="1"/>
          </p:cNvCxnSpPr>
          <p:nvPr/>
        </p:nvCxnSpPr>
        <p:spPr>
          <a:xfrm rot="10800000" flipH="1" flipV="1">
            <a:off x="5508776" y="1004073"/>
            <a:ext cx="214849" cy="2435086"/>
          </a:xfrm>
          <a:prstGeom prst="curvedConnector3">
            <a:avLst>
              <a:gd name="adj1" fmla="val -1064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5" name="연결선: 구부러짐 204">
            <a:extLst>
              <a:ext uri="{FF2B5EF4-FFF2-40B4-BE49-F238E27FC236}">
                <a16:creationId xmlns:a16="http://schemas.microsoft.com/office/drawing/2014/main" id="{6D013596-88C1-4AE5-B40A-F1AEA8A78D02}"/>
              </a:ext>
            </a:extLst>
          </p:cNvPr>
          <p:cNvCxnSpPr>
            <a:cxnSpLocks/>
            <a:stCxn id="5" idx="3"/>
            <a:endCxn id="201" idx="3"/>
          </p:cNvCxnSpPr>
          <p:nvPr/>
        </p:nvCxnSpPr>
        <p:spPr>
          <a:xfrm flipV="1">
            <a:off x="7099940" y="1004073"/>
            <a:ext cx="74013" cy="2435086"/>
          </a:xfrm>
          <a:prstGeom prst="curvedConnector3">
            <a:avLst>
              <a:gd name="adj1" fmla="val 40886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7" name="연결선: 구부러짐 206">
            <a:extLst>
              <a:ext uri="{FF2B5EF4-FFF2-40B4-BE49-F238E27FC236}">
                <a16:creationId xmlns:a16="http://schemas.microsoft.com/office/drawing/2014/main" id="{4DE65697-83CC-4E45-A479-731910CA5286}"/>
              </a:ext>
            </a:extLst>
          </p:cNvPr>
          <p:cNvCxnSpPr>
            <a:stCxn id="5" idx="1"/>
            <a:endCxn id="5" idx="0"/>
          </p:cNvCxnSpPr>
          <p:nvPr/>
        </p:nvCxnSpPr>
        <p:spPr>
          <a:xfrm rot="10800000" flipH="1">
            <a:off x="5723625" y="3123361"/>
            <a:ext cx="688157" cy="315798"/>
          </a:xfrm>
          <a:prstGeom prst="curvedConnector4">
            <a:avLst>
              <a:gd name="adj1" fmla="val -33219"/>
              <a:gd name="adj2" fmla="val 172388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3" name="사각형: 둥근 모서리 342">
            <a:extLst>
              <a:ext uri="{FF2B5EF4-FFF2-40B4-BE49-F238E27FC236}">
                <a16:creationId xmlns:a16="http://schemas.microsoft.com/office/drawing/2014/main" id="{F23C1451-D56B-4CD3-A08F-8E936A6B3BD6}"/>
              </a:ext>
            </a:extLst>
          </p:cNvPr>
          <p:cNvSpPr/>
          <p:nvPr/>
        </p:nvSpPr>
        <p:spPr>
          <a:xfrm>
            <a:off x="7767785" y="4727168"/>
            <a:ext cx="2290714" cy="63159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WRITEBACK</a:t>
            </a:r>
            <a:endParaRPr lang="ko-KR" altLang="en-US" dirty="0"/>
          </a:p>
        </p:txBody>
      </p:sp>
      <p:cxnSp>
        <p:nvCxnSpPr>
          <p:cNvPr id="345" name="직선 화살표 연결선 344">
            <a:extLst>
              <a:ext uri="{FF2B5EF4-FFF2-40B4-BE49-F238E27FC236}">
                <a16:creationId xmlns:a16="http://schemas.microsoft.com/office/drawing/2014/main" id="{618FA32F-AB48-499B-A995-7AA1A16E8D1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411783" y="3754957"/>
            <a:ext cx="2120484" cy="991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7" name="연결선: 구부러짐 346">
            <a:extLst>
              <a:ext uri="{FF2B5EF4-FFF2-40B4-BE49-F238E27FC236}">
                <a16:creationId xmlns:a16="http://schemas.microsoft.com/office/drawing/2014/main" id="{0BA7465F-CD41-4957-9F2E-7447FAB3BC5B}"/>
              </a:ext>
            </a:extLst>
          </p:cNvPr>
          <p:cNvCxnSpPr>
            <a:cxnSpLocks/>
            <a:stCxn id="5" idx="2"/>
            <a:endCxn id="16" idx="2"/>
          </p:cNvCxnSpPr>
          <p:nvPr/>
        </p:nvCxnSpPr>
        <p:spPr>
          <a:xfrm rot="5400000">
            <a:off x="3852839" y="1353911"/>
            <a:ext cx="157899" cy="4959990"/>
          </a:xfrm>
          <a:prstGeom prst="curvedConnector3">
            <a:avLst>
              <a:gd name="adj1" fmla="val 24477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305846F4-778D-481B-B5E6-DF67205334A8}"/>
              </a:ext>
            </a:extLst>
          </p:cNvPr>
          <p:cNvCxnSpPr>
            <a:endCxn id="4" idx="0"/>
          </p:cNvCxnSpPr>
          <p:nvPr/>
        </p:nvCxnSpPr>
        <p:spPr>
          <a:xfrm>
            <a:off x="1370879" y="406885"/>
            <a:ext cx="1801" cy="309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EAD588F6-1B7F-42EC-9517-4A0BA0240180}"/>
              </a:ext>
            </a:extLst>
          </p:cNvPr>
          <p:cNvSpPr txBox="1"/>
          <p:nvPr/>
        </p:nvSpPr>
        <p:spPr>
          <a:xfrm>
            <a:off x="1097431" y="107826"/>
            <a:ext cx="9144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err="1"/>
              <a:t>rst_i</a:t>
            </a:r>
            <a:r>
              <a:rPr lang="en-US" altLang="ko-KR" sz="1300" dirty="0"/>
              <a:t>/-</a:t>
            </a:r>
            <a:endParaRPr lang="ko-KR" altLang="en-US" sz="1300" dirty="0"/>
          </a:p>
        </p:txBody>
      </p:sp>
      <p:cxnSp>
        <p:nvCxnSpPr>
          <p:cNvPr id="356" name="직선 화살표 연결선 355">
            <a:extLst>
              <a:ext uri="{FF2B5EF4-FFF2-40B4-BE49-F238E27FC236}">
                <a16:creationId xmlns:a16="http://schemas.microsoft.com/office/drawing/2014/main" id="{299AF96E-FEBF-4870-B095-702BBCD49E65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7079628" y="3597057"/>
            <a:ext cx="1833514" cy="11301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9" name="연결선: 구부러짐 398">
            <a:extLst>
              <a:ext uri="{FF2B5EF4-FFF2-40B4-BE49-F238E27FC236}">
                <a16:creationId xmlns:a16="http://schemas.microsoft.com/office/drawing/2014/main" id="{E4A239EB-5068-4E68-B1A5-04E0B38024BF}"/>
              </a:ext>
            </a:extLst>
          </p:cNvPr>
          <p:cNvCxnSpPr>
            <a:cxnSpLocks/>
            <a:stCxn id="343" idx="0"/>
            <a:endCxn id="51" idx="1"/>
          </p:cNvCxnSpPr>
          <p:nvPr/>
        </p:nvCxnSpPr>
        <p:spPr>
          <a:xfrm rot="5400000" flipH="1" flipV="1">
            <a:off x="7674634" y="2270640"/>
            <a:ext cx="3695037" cy="121802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9DCAF95-FE23-437E-9237-1E4764F51E9C}"/>
              </a:ext>
            </a:extLst>
          </p:cNvPr>
          <p:cNvSpPr/>
          <p:nvPr/>
        </p:nvSpPr>
        <p:spPr>
          <a:xfrm>
            <a:off x="684523" y="716333"/>
            <a:ext cx="13763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CD2FEDC-F855-4665-BF97-645AB1601ACC}"/>
              </a:ext>
            </a:extLst>
          </p:cNvPr>
          <p:cNvSpPr/>
          <p:nvPr/>
        </p:nvSpPr>
        <p:spPr>
          <a:xfrm>
            <a:off x="5723626" y="3123361"/>
            <a:ext cx="1376314" cy="63159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LOOKUP</a:t>
            </a:r>
            <a:endParaRPr lang="ko-KR" altLang="en-US" dirty="0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7F71F1B8-B225-40A2-99C0-4C49FD0BADB6}"/>
              </a:ext>
            </a:extLst>
          </p:cNvPr>
          <p:cNvCxnSpPr>
            <a:stCxn id="4" idx="2"/>
            <a:endCxn id="4" idx="1"/>
          </p:cNvCxnSpPr>
          <p:nvPr/>
        </p:nvCxnSpPr>
        <p:spPr>
          <a:xfrm rot="5400000" flipH="1">
            <a:off x="870703" y="845952"/>
            <a:ext cx="315798" cy="688157"/>
          </a:xfrm>
          <a:prstGeom prst="curvedConnector4">
            <a:avLst>
              <a:gd name="adj1" fmla="val -72388"/>
              <a:gd name="adj2" fmla="val 13321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D3A838B-D968-40D7-A0FD-CB829B3E330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60837" y="1032131"/>
            <a:ext cx="3678221" cy="2214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BB911F4-ACF6-4D54-8249-1939E0AD3C74}"/>
              </a:ext>
            </a:extLst>
          </p:cNvPr>
          <p:cNvSpPr/>
          <p:nvPr/>
        </p:nvSpPr>
        <p:spPr>
          <a:xfrm>
            <a:off x="306436" y="3281260"/>
            <a:ext cx="2290714" cy="6315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FLUSH_ADDR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269DA50-98AF-4D50-828E-A722D680DD04}"/>
              </a:ext>
            </a:extLst>
          </p:cNvPr>
          <p:cNvSpPr/>
          <p:nvPr/>
        </p:nvSpPr>
        <p:spPr>
          <a:xfrm>
            <a:off x="3001127" y="3281260"/>
            <a:ext cx="1376314" cy="63159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</a:t>
            </a:r>
            <a:endParaRPr lang="ko-KR" altLang="en-US" dirty="0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79309FEC-9A73-4EEC-B42E-5069078AA8E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65855" y="2162517"/>
            <a:ext cx="12700" cy="223749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76747A25-5C6B-4ED5-812E-2C9DACC8C199}"/>
              </a:ext>
            </a:extLst>
          </p:cNvPr>
          <p:cNvCxnSpPr>
            <a:cxnSpLocks/>
          </p:cNvCxnSpPr>
          <p:nvPr/>
        </p:nvCxnSpPr>
        <p:spPr>
          <a:xfrm rot="5400000">
            <a:off x="2570539" y="2794112"/>
            <a:ext cx="12700" cy="223749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160B9FB-0D97-47CF-8D64-1AFF957679DF}"/>
              </a:ext>
            </a:extLst>
          </p:cNvPr>
          <p:cNvCxnSpPr>
            <a:cxnSpLocks/>
          </p:cNvCxnSpPr>
          <p:nvPr/>
        </p:nvCxnSpPr>
        <p:spPr>
          <a:xfrm>
            <a:off x="4372757" y="3597059"/>
            <a:ext cx="1346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312AC8A-2FA3-4C73-8EDE-3A9B4C435B26}"/>
              </a:ext>
            </a:extLst>
          </p:cNvPr>
          <p:cNvSpPr/>
          <p:nvPr/>
        </p:nvSpPr>
        <p:spPr>
          <a:xfrm>
            <a:off x="10131163" y="716333"/>
            <a:ext cx="1376314" cy="631596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EVICT</a:t>
            </a:r>
            <a:endParaRPr lang="ko-KR" altLang="en-US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A53A7E0-EA41-4C75-8811-E043F2BFA525}"/>
              </a:ext>
            </a:extLst>
          </p:cNvPr>
          <p:cNvSpPr/>
          <p:nvPr/>
        </p:nvSpPr>
        <p:spPr>
          <a:xfrm>
            <a:off x="9995458" y="1773102"/>
            <a:ext cx="164772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EVICT_WAIT</a:t>
            </a:r>
            <a:endParaRPr lang="ko-KR" altLang="en-US" dirty="0"/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973D8291-7AD7-42CE-A177-C7C182B446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05500" y="530155"/>
            <a:ext cx="315798" cy="688157"/>
          </a:xfrm>
          <a:prstGeom prst="curvedConnector4">
            <a:avLst>
              <a:gd name="adj1" fmla="val -72388"/>
              <a:gd name="adj2" fmla="val 13321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52FC9DBB-E080-4A64-AAED-02522DE4ADDB}"/>
              </a:ext>
            </a:extLst>
          </p:cNvPr>
          <p:cNvCxnSpPr>
            <a:cxnSpLocks/>
            <a:stCxn id="52" idx="0"/>
            <a:endCxn id="52" idx="3"/>
          </p:cNvCxnSpPr>
          <p:nvPr/>
        </p:nvCxnSpPr>
        <p:spPr>
          <a:xfrm rot="16200000" flipH="1">
            <a:off x="11073352" y="1519070"/>
            <a:ext cx="315798" cy="823862"/>
          </a:xfrm>
          <a:prstGeom prst="curvedConnector4">
            <a:avLst>
              <a:gd name="adj1" fmla="val -72388"/>
              <a:gd name="adj2" fmla="val 12774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9DB42EB-DAD3-4AA1-9E6F-A7927E1CF2B7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10819320" y="1347929"/>
            <a:ext cx="0" cy="425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F3B586C-5110-4280-873B-4D8959803222}"/>
              </a:ext>
            </a:extLst>
          </p:cNvPr>
          <p:cNvCxnSpPr>
            <a:cxnSpLocks/>
          </p:cNvCxnSpPr>
          <p:nvPr/>
        </p:nvCxnSpPr>
        <p:spPr>
          <a:xfrm flipV="1">
            <a:off x="7099939" y="1210922"/>
            <a:ext cx="3027632" cy="2228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53FF1D2-084D-46DB-9DDA-60AD3667BC03}"/>
              </a:ext>
            </a:extLst>
          </p:cNvPr>
          <p:cNvCxnSpPr>
            <a:cxnSpLocks/>
          </p:cNvCxnSpPr>
          <p:nvPr/>
        </p:nvCxnSpPr>
        <p:spPr>
          <a:xfrm flipV="1">
            <a:off x="4372757" y="846176"/>
            <a:ext cx="5753721" cy="2750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C9E8DD7-DB5D-47D1-B039-6A0A8832C897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7069076" y="2088900"/>
            <a:ext cx="2926382" cy="1192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0F5A1A5A-D86D-4C29-B2BA-51C16D8E4D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47109" y="2088901"/>
            <a:ext cx="8543665" cy="119236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A7EEA54-EBF0-464A-8B50-B9F929714268}"/>
              </a:ext>
            </a:extLst>
          </p:cNvPr>
          <p:cNvSpPr/>
          <p:nvPr/>
        </p:nvSpPr>
        <p:spPr>
          <a:xfrm>
            <a:off x="10212077" y="4699111"/>
            <a:ext cx="13763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REFILL</a:t>
            </a:r>
            <a:endParaRPr lang="ko-KR" altLang="en-US" dirty="0"/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E0C64E8D-A1BB-4713-922A-CFE6829A11E0}"/>
              </a:ext>
            </a:extLst>
          </p:cNvPr>
          <p:cNvCxnSpPr>
            <a:cxnSpLocks/>
            <a:stCxn id="69" idx="3"/>
            <a:endCxn id="69" idx="2"/>
          </p:cNvCxnSpPr>
          <p:nvPr/>
        </p:nvCxnSpPr>
        <p:spPr>
          <a:xfrm flipH="1">
            <a:off x="10900234" y="5014909"/>
            <a:ext cx="688157" cy="315798"/>
          </a:xfrm>
          <a:prstGeom prst="curvedConnector4">
            <a:avLst>
              <a:gd name="adj1" fmla="val -33219"/>
              <a:gd name="adj2" fmla="val 17238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0633F5C3-7AEA-41DB-A550-A1CAB8FDC4FE}"/>
              </a:ext>
            </a:extLst>
          </p:cNvPr>
          <p:cNvSpPr/>
          <p:nvPr/>
        </p:nvSpPr>
        <p:spPr>
          <a:xfrm>
            <a:off x="6562920" y="5783339"/>
            <a:ext cx="1376314" cy="631596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3063A73-3C61-4045-9688-4F07A657D78B}"/>
              </a:ext>
            </a:extLst>
          </p:cNvPr>
          <p:cNvSpPr/>
          <p:nvPr/>
        </p:nvSpPr>
        <p:spPr>
          <a:xfrm>
            <a:off x="4940924" y="5783339"/>
            <a:ext cx="1376314" cy="631596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WRITE</a:t>
            </a:r>
            <a:endParaRPr lang="ko-KR" altLang="en-US" dirty="0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A7978160-BD3C-486C-9BBD-D33A05C026EF}"/>
              </a:ext>
            </a:extLst>
          </p:cNvPr>
          <p:cNvCxnSpPr>
            <a:cxnSpLocks/>
            <a:stCxn id="69" idx="2"/>
            <a:endCxn id="106" idx="0"/>
          </p:cNvCxnSpPr>
          <p:nvPr/>
        </p:nvCxnSpPr>
        <p:spPr>
          <a:xfrm flipH="1">
            <a:off x="7251077" y="5330707"/>
            <a:ext cx="3649157" cy="452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D11A0AA0-96E8-4F9C-8698-DD1E2CDB1184}"/>
              </a:ext>
            </a:extLst>
          </p:cNvPr>
          <p:cNvCxnSpPr>
            <a:cxnSpLocks/>
            <a:stCxn id="69" idx="2"/>
            <a:endCxn id="107" idx="0"/>
          </p:cNvCxnSpPr>
          <p:nvPr/>
        </p:nvCxnSpPr>
        <p:spPr>
          <a:xfrm flipH="1">
            <a:off x="5629081" y="5330707"/>
            <a:ext cx="5271153" cy="452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B4E10EBE-2A6D-495A-8E5C-D90E56014D90}"/>
              </a:ext>
            </a:extLst>
          </p:cNvPr>
          <p:cNvCxnSpPr>
            <a:cxnSpLocks/>
            <a:stCxn id="107" idx="0"/>
          </p:cNvCxnSpPr>
          <p:nvPr/>
        </p:nvCxnSpPr>
        <p:spPr>
          <a:xfrm flipV="1">
            <a:off x="5629081" y="3783015"/>
            <a:ext cx="465699" cy="20003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DB1A01A5-59BE-4E4F-8A19-7B196558E270}"/>
              </a:ext>
            </a:extLst>
          </p:cNvPr>
          <p:cNvCxnSpPr>
            <a:cxnSpLocks/>
            <a:stCxn id="106" idx="0"/>
          </p:cNvCxnSpPr>
          <p:nvPr/>
        </p:nvCxnSpPr>
        <p:spPr>
          <a:xfrm flipH="1" flipV="1">
            <a:off x="6815761" y="3754955"/>
            <a:ext cx="435316" cy="20283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E74C2088-D4AE-4FD2-866A-01770BBAE154}"/>
              </a:ext>
            </a:extLst>
          </p:cNvPr>
          <p:cNvCxnSpPr>
            <a:cxnSpLocks/>
            <a:stCxn id="52" idx="2"/>
            <a:endCxn id="69" idx="0"/>
          </p:cNvCxnSpPr>
          <p:nvPr/>
        </p:nvCxnSpPr>
        <p:spPr>
          <a:xfrm>
            <a:off x="10819320" y="2404698"/>
            <a:ext cx="80914" cy="2294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55C5FBBC-D437-4CB4-907A-9092F62FE9B1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>
            <a:off x="6411783" y="3754957"/>
            <a:ext cx="4488451" cy="944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C8879B2D-8161-4F77-B4C1-8252F9473A09}"/>
              </a:ext>
            </a:extLst>
          </p:cNvPr>
          <p:cNvSpPr/>
          <p:nvPr/>
        </p:nvSpPr>
        <p:spPr>
          <a:xfrm>
            <a:off x="5508777" y="688275"/>
            <a:ext cx="1665176" cy="63159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INVALIDATE</a:t>
            </a:r>
            <a:endParaRPr lang="ko-KR" altLang="en-US" dirty="0"/>
          </a:p>
        </p:txBody>
      </p:sp>
      <p:cxnSp>
        <p:nvCxnSpPr>
          <p:cNvPr id="203" name="연결선: 구부러짐 202">
            <a:extLst>
              <a:ext uri="{FF2B5EF4-FFF2-40B4-BE49-F238E27FC236}">
                <a16:creationId xmlns:a16="http://schemas.microsoft.com/office/drawing/2014/main" id="{409CEF91-39FF-4401-969C-19651ED060B0}"/>
              </a:ext>
            </a:extLst>
          </p:cNvPr>
          <p:cNvCxnSpPr>
            <a:cxnSpLocks/>
            <a:stCxn id="201" idx="1"/>
            <a:endCxn id="5" idx="1"/>
          </p:cNvCxnSpPr>
          <p:nvPr/>
        </p:nvCxnSpPr>
        <p:spPr>
          <a:xfrm rot="10800000" flipH="1" flipV="1">
            <a:off x="5508776" y="1004073"/>
            <a:ext cx="214849" cy="2435086"/>
          </a:xfrm>
          <a:prstGeom prst="curvedConnector3">
            <a:avLst>
              <a:gd name="adj1" fmla="val -1064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구부러짐 204">
            <a:extLst>
              <a:ext uri="{FF2B5EF4-FFF2-40B4-BE49-F238E27FC236}">
                <a16:creationId xmlns:a16="http://schemas.microsoft.com/office/drawing/2014/main" id="{6D013596-88C1-4AE5-B40A-F1AEA8A78D02}"/>
              </a:ext>
            </a:extLst>
          </p:cNvPr>
          <p:cNvCxnSpPr>
            <a:cxnSpLocks/>
            <a:stCxn id="5" idx="3"/>
            <a:endCxn id="201" idx="3"/>
          </p:cNvCxnSpPr>
          <p:nvPr/>
        </p:nvCxnSpPr>
        <p:spPr>
          <a:xfrm flipV="1">
            <a:off x="7099940" y="1004073"/>
            <a:ext cx="74013" cy="2435086"/>
          </a:xfrm>
          <a:prstGeom prst="curvedConnector3">
            <a:avLst>
              <a:gd name="adj1" fmla="val 40886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7" name="연결선: 구부러짐 206">
            <a:extLst>
              <a:ext uri="{FF2B5EF4-FFF2-40B4-BE49-F238E27FC236}">
                <a16:creationId xmlns:a16="http://schemas.microsoft.com/office/drawing/2014/main" id="{4DE65697-83CC-4E45-A479-731910CA5286}"/>
              </a:ext>
            </a:extLst>
          </p:cNvPr>
          <p:cNvCxnSpPr>
            <a:stCxn id="5" idx="1"/>
            <a:endCxn id="5" idx="0"/>
          </p:cNvCxnSpPr>
          <p:nvPr/>
        </p:nvCxnSpPr>
        <p:spPr>
          <a:xfrm rot="10800000" flipH="1">
            <a:off x="5723625" y="3123361"/>
            <a:ext cx="688157" cy="315798"/>
          </a:xfrm>
          <a:prstGeom prst="curvedConnector4">
            <a:avLst>
              <a:gd name="adj1" fmla="val -33219"/>
              <a:gd name="adj2" fmla="val 17238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3" name="사각형: 둥근 모서리 342">
            <a:extLst>
              <a:ext uri="{FF2B5EF4-FFF2-40B4-BE49-F238E27FC236}">
                <a16:creationId xmlns:a16="http://schemas.microsoft.com/office/drawing/2014/main" id="{F23C1451-D56B-4CD3-A08F-8E936A6B3BD6}"/>
              </a:ext>
            </a:extLst>
          </p:cNvPr>
          <p:cNvSpPr/>
          <p:nvPr/>
        </p:nvSpPr>
        <p:spPr>
          <a:xfrm>
            <a:off x="7767785" y="4727168"/>
            <a:ext cx="2290714" cy="631596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WRITEBACK</a:t>
            </a:r>
            <a:endParaRPr lang="ko-KR" altLang="en-US" dirty="0"/>
          </a:p>
        </p:txBody>
      </p:sp>
      <p:cxnSp>
        <p:nvCxnSpPr>
          <p:cNvPr id="347" name="연결선: 구부러짐 346">
            <a:extLst>
              <a:ext uri="{FF2B5EF4-FFF2-40B4-BE49-F238E27FC236}">
                <a16:creationId xmlns:a16="http://schemas.microsoft.com/office/drawing/2014/main" id="{0BA7465F-CD41-4957-9F2E-7447FAB3BC5B}"/>
              </a:ext>
            </a:extLst>
          </p:cNvPr>
          <p:cNvCxnSpPr>
            <a:cxnSpLocks/>
          </p:cNvCxnSpPr>
          <p:nvPr/>
        </p:nvCxnSpPr>
        <p:spPr>
          <a:xfrm rot="5400000">
            <a:off x="3852839" y="1353913"/>
            <a:ext cx="157899" cy="4959990"/>
          </a:xfrm>
          <a:prstGeom prst="curvedConnector3">
            <a:avLst>
              <a:gd name="adj1" fmla="val 24477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305846F4-778D-481B-B5E6-DF67205334A8}"/>
              </a:ext>
            </a:extLst>
          </p:cNvPr>
          <p:cNvCxnSpPr>
            <a:endCxn id="4" idx="0"/>
          </p:cNvCxnSpPr>
          <p:nvPr/>
        </p:nvCxnSpPr>
        <p:spPr>
          <a:xfrm>
            <a:off x="1370879" y="406885"/>
            <a:ext cx="1801" cy="309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EAD588F6-1B7F-42EC-9517-4A0BA0240180}"/>
              </a:ext>
            </a:extLst>
          </p:cNvPr>
          <p:cNvSpPr txBox="1"/>
          <p:nvPr/>
        </p:nvSpPr>
        <p:spPr>
          <a:xfrm>
            <a:off x="1097431" y="107826"/>
            <a:ext cx="9144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err="1"/>
              <a:t>rst_i</a:t>
            </a:r>
            <a:r>
              <a:rPr lang="en-US" altLang="ko-KR" sz="1300" dirty="0"/>
              <a:t>/-</a:t>
            </a:r>
            <a:endParaRPr lang="ko-KR" altLang="en-US" sz="1300" dirty="0"/>
          </a:p>
        </p:txBody>
      </p:sp>
      <p:cxnSp>
        <p:nvCxnSpPr>
          <p:cNvPr id="356" name="직선 화살표 연결선 355">
            <a:extLst>
              <a:ext uri="{FF2B5EF4-FFF2-40B4-BE49-F238E27FC236}">
                <a16:creationId xmlns:a16="http://schemas.microsoft.com/office/drawing/2014/main" id="{299AF96E-FEBF-4870-B095-702BBCD49E65}"/>
              </a:ext>
            </a:extLst>
          </p:cNvPr>
          <p:cNvCxnSpPr>
            <a:cxnSpLocks/>
            <a:stCxn id="343" idx="0"/>
          </p:cNvCxnSpPr>
          <p:nvPr/>
        </p:nvCxnSpPr>
        <p:spPr>
          <a:xfrm flipH="1" flipV="1">
            <a:off x="7079628" y="3597057"/>
            <a:ext cx="1833514" cy="11301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9" name="연결선: 구부러짐 398">
            <a:extLst>
              <a:ext uri="{FF2B5EF4-FFF2-40B4-BE49-F238E27FC236}">
                <a16:creationId xmlns:a16="http://schemas.microsoft.com/office/drawing/2014/main" id="{E4A239EB-5068-4E68-B1A5-04E0B38024BF}"/>
              </a:ext>
            </a:extLst>
          </p:cNvPr>
          <p:cNvCxnSpPr>
            <a:cxnSpLocks/>
            <a:stCxn id="343" idx="0"/>
            <a:endCxn id="51" idx="1"/>
          </p:cNvCxnSpPr>
          <p:nvPr/>
        </p:nvCxnSpPr>
        <p:spPr>
          <a:xfrm rot="5400000" flipH="1" flipV="1">
            <a:off x="7674634" y="2270640"/>
            <a:ext cx="3695037" cy="121802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0A37CA5-B883-4A6F-8EDF-9D92F27CF006}"/>
              </a:ext>
            </a:extLst>
          </p:cNvPr>
          <p:cNvSpPr/>
          <p:nvPr/>
        </p:nvSpPr>
        <p:spPr>
          <a:xfrm>
            <a:off x="5718941" y="3123361"/>
            <a:ext cx="13763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LOOKUP</a:t>
            </a:r>
            <a:endParaRPr lang="ko-KR" altLang="en-US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1F76F2A-56A2-4CF3-8DFD-D70EDB1440D9}"/>
              </a:ext>
            </a:extLst>
          </p:cNvPr>
          <p:cNvSpPr/>
          <p:nvPr/>
        </p:nvSpPr>
        <p:spPr>
          <a:xfrm>
            <a:off x="301751" y="3281260"/>
            <a:ext cx="22907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FLUSH_ADDR</a:t>
            </a:r>
            <a:endParaRPr lang="ko-KR" altLang="en-US" dirty="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C59C0B1-9CFA-43F5-BBDF-C0B85B8BFE58}"/>
              </a:ext>
            </a:extLst>
          </p:cNvPr>
          <p:cNvSpPr/>
          <p:nvPr/>
        </p:nvSpPr>
        <p:spPr>
          <a:xfrm>
            <a:off x="2996442" y="3281260"/>
            <a:ext cx="1376314" cy="63159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FLUSH</a:t>
            </a:r>
            <a:endParaRPr lang="ko-KR" altLang="en-US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4C7A8FA-7812-4722-9EF5-20A4E043171A}"/>
              </a:ext>
            </a:extLst>
          </p:cNvPr>
          <p:cNvSpPr/>
          <p:nvPr/>
        </p:nvSpPr>
        <p:spPr>
          <a:xfrm>
            <a:off x="5504092" y="688275"/>
            <a:ext cx="1665176" cy="631596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INVALIDATE</a:t>
            </a:r>
            <a:endParaRPr lang="ko-KR" altLang="en-US" dirty="0"/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EAF3689E-C9BE-451F-8314-A7CC348D78F0}"/>
              </a:ext>
            </a:extLst>
          </p:cNvPr>
          <p:cNvCxnSpPr>
            <a:cxnSpLocks/>
          </p:cNvCxnSpPr>
          <p:nvPr/>
        </p:nvCxnSpPr>
        <p:spPr>
          <a:xfrm>
            <a:off x="6411783" y="3754957"/>
            <a:ext cx="2120484" cy="9914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21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A4065A-FD6F-4165-A48A-218AB5FF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918" y="0"/>
            <a:ext cx="9346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1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211</Words>
  <Application>Microsoft Office PowerPoint</Application>
  <PresentationFormat>와이드스크린</PresentationFormat>
  <Paragraphs>42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성인규[ 학부재학 / 전기전자공학부 ]</dc:creator>
  <cp:lastModifiedBy>성인규[ 학부재학 / 전기전자공학부 ]</cp:lastModifiedBy>
  <cp:revision>36</cp:revision>
  <dcterms:created xsi:type="dcterms:W3CDTF">2021-04-12T15:48:42Z</dcterms:created>
  <dcterms:modified xsi:type="dcterms:W3CDTF">2021-04-21T01:46:21Z</dcterms:modified>
</cp:coreProperties>
</file>